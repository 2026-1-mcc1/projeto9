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boldItalic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878" y="134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 flipH="1" flipV="1">
            <a:off x="24803100" y="22961488"/>
            <a:ext cx="942648" cy="50095"/>
          </a:xfrm>
          <a:custGeom>
            <a:avLst/>
            <a:gdLst/>
            <a:ahLst/>
            <a:cxnLst/>
            <a:rect l="l" t="t" r="r" b="b"/>
            <a:pathLst>
              <a:path w="5982073" h="3493732" extrusionOk="0">
                <a:moveTo>
                  <a:pt x="0" y="0"/>
                </a:moveTo>
                <a:lnTo>
                  <a:pt x="5982074" y="0"/>
                </a:lnTo>
                <a:lnTo>
                  <a:pt x="5982074" y="3493732"/>
                </a:lnTo>
                <a:lnTo>
                  <a:pt x="0" y="3493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" y="3442128"/>
            <a:ext cx="27449325" cy="149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1005"/>
              </a:lnSpc>
            </a:pPr>
            <a:r>
              <a:rPr lang="pt-BR" sz="9600" b="1" dirty="0"/>
              <a:t>SILENT MAZE</a:t>
            </a:r>
            <a:endParaRPr b="1"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1351099" y="5097299"/>
            <a:ext cx="24099701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25"/>
              </a:lnSpc>
            </a:pPr>
            <a:r>
              <a:rPr lang="pt-B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Gabriel Ribeiro, João </a:t>
            </a:r>
            <a:r>
              <a:rPr lang="pt-B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Croti</a:t>
            </a:r>
            <a:r>
              <a:rPr lang="pt-B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Pablo Kayke, Pedro Kimura e Samuel </a:t>
            </a:r>
            <a:r>
              <a:rPr lang="pt-B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Eblak</a:t>
            </a:r>
            <a:r>
              <a:rPr lang="pt-B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0" algn="ctr">
              <a:lnSpc>
                <a:spcPct val="140025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pt-BR" sz="4800" dirty="0"/>
              <a:t>Adriano Felix, Eduardo </a:t>
            </a:r>
            <a:r>
              <a:rPr lang="pt-BR" sz="4800" dirty="0" err="1"/>
              <a:t>Savino</a:t>
            </a:r>
            <a:r>
              <a:rPr lang="pt-BR" sz="4800" dirty="0"/>
              <a:t>, Luís Fernando, Renata Muniz, Victor Rosetti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37604" y="31447704"/>
            <a:ext cx="11400000" cy="620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pt-BR" sz="3600" dirty="0">
                <a:latin typeface="+mn-lt"/>
              </a:rPr>
              <a:t>Rogers et al. (2022). </a:t>
            </a:r>
            <a:r>
              <a:rPr lang="pt-BR" sz="3600" i="1" dirty="0" err="1">
                <a:latin typeface="+mn-lt"/>
              </a:rPr>
              <a:t>Realism</a:t>
            </a:r>
            <a:r>
              <a:rPr lang="pt-BR" sz="3600" i="1" dirty="0">
                <a:latin typeface="+mn-lt"/>
              </a:rPr>
              <a:t> in digital games</a:t>
            </a:r>
            <a:r>
              <a:rPr lang="pt-BR" sz="3600" dirty="0">
                <a:latin typeface="+mn-lt"/>
              </a:rPr>
              <a:t> (ACM CHI)</a:t>
            </a:r>
          </a:p>
          <a:p>
            <a:pPr algn="just">
              <a:lnSpc>
                <a:spcPct val="140000"/>
              </a:lnSpc>
            </a:pPr>
            <a:endParaRPr lang="pt-BR" sz="3600" dirty="0">
              <a:latin typeface="+mn-lt"/>
            </a:endParaRPr>
          </a:p>
          <a:p>
            <a:pPr algn="just">
              <a:lnSpc>
                <a:spcPct val="140000"/>
              </a:lnSpc>
            </a:pPr>
            <a:r>
              <a:rPr lang="en-US" sz="3600" dirty="0">
                <a:latin typeface="+mn-lt"/>
              </a:rPr>
              <a:t>Huerta, R. (2012). </a:t>
            </a:r>
            <a:r>
              <a:rPr lang="en-US" sz="3600" i="1" dirty="0">
                <a:latin typeface="+mn-lt"/>
              </a:rPr>
              <a:t>Measuring immersion in first-person games</a:t>
            </a:r>
          </a:p>
          <a:p>
            <a:pPr algn="just">
              <a:lnSpc>
                <a:spcPct val="140000"/>
              </a:lnSpc>
            </a:pPr>
            <a:endParaRPr lang="en-US" sz="3600" i="1" dirty="0">
              <a:latin typeface="+mn-lt"/>
            </a:endParaRPr>
          </a:p>
          <a:p>
            <a:pPr algn="just">
              <a:lnSpc>
                <a:spcPct val="140000"/>
              </a:lnSpc>
            </a:pPr>
            <a:r>
              <a:rPr lang="en-US" sz="3600" dirty="0"/>
              <a:t>Denisova, A., &amp; Cairns, P. (2015). </a:t>
            </a:r>
            <a:r>
              <a:rPr lang="en-US" sz="3600" i="1" dirty="0"/>
              <a:t>First Person vs Third Person Perspective</a:t>
            </a:r>
            <a:endParaRPr lang="en-US" sz="3600"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756887" y="31379591"/>
            <a:ext cx="12562800" cy="542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600" dirty="0" err="1"/>
              <a:t>Unity</a:t>
            </a:r>
            <a:r>
              <a:rPr lang="pt-BR" sz="3600" dirty="0"/>
              <a:t> </a:t>
            </a:r>
            <a:r>
              <a:rPr lang="pt-BR" sz="3600" dirty="0" err="1"/>
              <a:t>Engine</a:t>
            </a:r>
            <a:r>
              <a:rPr lang="pt-BR" sz="3600" dirty="0"/>
              <a:t> (versão 6000.3.6f1 (2026) )</a:t>
            </a:r>
          </a:p>
          <a:p>
            <a:pPr lvl="0" algn="just">
              <a:lnSpc>
                <a:spcPct val="140000"/>
              </a:lnSpc>
            </a:pPr>
            <a:r>
              <a:rPr lang="pt-BR" sz="3600" dirty="0"/>
              <a:t> • C# com arquitetura orientada a eventos (Triggers e </a:t>
            </a:r>
            <a:r>
              <a:rPr lang="pt-BR" sz="3600" dirty="0" err="1"/>
              <a:t>Colliders</a:t>
            </a:r>
            <a:r>
              <a:rPr lang="pt-BR" sz="3600" dirty="0"/>
              <a:t>) </a:t>
            </a:r>
          </a:p>
          <a:p>
            <a:pPr lvl="0" algn="just">
              <a:lnSpc>
                <a:spcPct val="140000"/>
              </a:lnSpc>
            </a:pPr>
            <a:r>
              <a:rPr lang="pt-BR" sz="3600" dirty="0"/>
              <a:t>• Visual Studio para edição de scripts </a:t>
            </a:r>
          </a:p>
          <a:p>
            <a:pPr lvl="0" algn="just">
              <a:lnSpc>
                <a:spcPct val="140000"/>
              </a:lnSpc>
            </a:pPr>
            <a:r>
              <a:rPr lang="pt-BR" sz="3600" dirty="0"/>
              <a:t>• 3DTextures.me para texturas PBR de pedra e vegetação. </a:t>
            </a:r>
            <a:r>
              <a:rPr lang="pt-BR" sz="3600" dirty="0" err="1"/>
              <a:t>Git</a:t>
            </a:r>
            <a:r>
              <a:rPr lang="pt-BR" sz="3600" dirty="0"/>
              <a:t> e GitHub para controle de versão e colaboração em equipe </a:t>
            </a:r>
            <a:endParaRPr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756887" y="10592850"/>
            <a:ext cx="12562800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pt-BR" sz="3600" dirty="0"/>
              <a:t>Ao analisar os nove títulos de maior destaque no gênero de labirinto na Microsoft </a:t>
            </a:r>
            <a:r>
              <a:rPr lang="pt-BR" sz="3600" dirty="0" err="1"/>
              <a:t>Store</a:t>
            </a:r>
            <a:r>
              <a:rPr lang="pt-BR" sz="3600" dirty="0"/>
              <a:t>, como </a:t>
            </a:r>
            <a:r>
              <a:rPr lang="pt-BR" sz="3600" dirty="0" err="1"/>
              <a:t>Marble</a:t>
            </a:r>
            <a:r>
              <a:rPr lang="pt-BR" sz="3600" dirty="0"/>
              <a:t> Mania, </a:t>
            </a:r>
            <a:r>
              <a:rPr lang="pt-BR" sz="3600" dirty="0" err="1"/>
              <a:t>Maze</a:t>
            </a:r>
            <a:r>
              <a:rPr lang="pt-BR" sz="3600" dirty="0"/>
              <a:t> Ball Rush e </a:t>
            </a:r>
            <a:r>
              <a:rPr lang="pt-BR" sz="3600" dirty="0" err="1"/>
              <a:t>Loopy</a:t>
            </a:r>
            <a:r>
              <a:rPr lang="pt-BR" sz="3600" dirty="0"/>
              <a:t> </a:t>
            </a:r>
            <a:r>
              <a:rPr lang="pt-BR" sz="3600" dirty="0" err="1"/>
              <a:t>Mazes</a:t>
            </a:r>
            <a:r>
              <a:rPr lang="pt-BR" sz="3600" dirty="0"/>
              <a:t>, identifica-se um padrão de baixa imersão. Esses jogos utilizam predominantemente perspectivas superiores ou câmeras distantes que desconectam o jogador do ambiente. Além disso, a estética visual simplificada (2D) e a ausência de uma temática narrativa tornam a experiência repetitiva, focando apenas em mecânicas básicas de movimentação sem profundidade espacial ou atmosfera envolvente.</a:t>
            </a:r>
            <a:endParaRPr lang="pt-BR" sz="343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517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Nossa proposta é um labirinto 3D em primeira pessoa ambientado na Mitologia Grega, que substitui o minimalismo genérico por uma experiência narrativa e sensorial profunda. Nosso jogo foca na imersão absoluta. Através de sistemas imersivos e armadilhas variadas integradas ao ambiente, elevamos o gênero de puzzle a um novo patamar de engajamento. 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 flipH="1">
            <a:off x="15517215" y="10868505"/>
            <a:ext cx="11277526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Silent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Maze propõe um jogo de labirinto 3D em primeira pessoa desenvolvido na Unity com C#. O jogador usa raciocínio espacial para desviar de armadilhas baseadas em triggers e ativar checkpoints até encontrar a saída. No jogo possuí uma mecânica de dano acumulativo por obstáculos: cada erro consome uma fração da vida,</a:t>
            </a:r>
          </a:p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elevando o desafio tático. O cenário tem estética uma atmosfera de suspense, tornando o labirinto o principal antagonista da experiência.</a:t>
            </a:r>
            <a:endParaRPr dirty="0"/>
          </a:p>
        </p:txBody>
      </p:sp>
      <p:sp>
        <p:nvSpPr>
          <p:cNvPr id="140" name="Google Shape;140;p1"/>
          <p:cNvSpPr txBox="1"/>
          <p:nvPr/>
        </p:nvSpPr>
        <p:spPr>
          <a:xfrm>
            <a:off x="15589932" y="27352024"/>
            <a:ext cx="11652000" cy="2216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26F81D1-5695-0B72-22CF-2F68195FD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92712" y="18582129"/>
            <a:ext cx="11444892" cy="532095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C03584A-1624-676F-BB37-4E351280C6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92712" y="24107868"/>
            <a:ext cx="11444892" cy="59806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381</Words>
  <Application>Microsoft Office PowerPoint</Application>
  <PresentationFormat>Personalizar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Calibri</vt:lpstr>
      <vt:lpstr>Open Sans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Pablo Kayke Fernandes Bezerra</dc:creator>
  <cp:lastModifiedBy>Samuel Eblak Barbosa</cp:lastModifiedBy>
  <cp:revision>11</cp:revision>
  <dcterms:created xsi:type="dcterms:W3CDTF">2006-08-16T00:00:00Z</dcterms:created>
  <dcterms:modified xsi:type="dcterms:W3CDTF">2026-05-11T23:52:07Z</dcterms:modified>
</cp:coreProperties>
</file>